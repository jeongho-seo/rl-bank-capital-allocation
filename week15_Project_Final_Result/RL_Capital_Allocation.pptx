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037" autoAdjust="0"/>
  </p:normalViewPr>
  <p:slideViewPr>
    <p:cSldViewPr snapToGrid="0" snapToObjects="1">
      <p:cViewPr varScale="1">
        <p:scale>
          <a:sx n="60" d="100"/>
          <a:sy n="60" d="100"/>
        </p:scale>
        <p:origin x="15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profit (M)</c:v>
                </c:pt>
              </c:strCache>
            </c:strRef>
          </c:tx>
          <c:spPr>
            <a:solidFill>
              <a:srgbClr val="1A1D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CD-44A7-87C0-8F9304D4DA0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8CD-44A7-87C0-8F9304D4DA04}"/>
              </c:ext>
            </c:extLst>
          </c:dPt>
          <c:dPt>
            <c:idx val="2"/>
            <c:invertIfNegative val="0"/>
            <c:bubble3D val="0"/>
            <c:spPr>
              <a:solidFill>
                <a:srgbClr val="8A4A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CD-44A7-87C0-8F9304D4DA0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8CD-44A7-87C0-8F9304D4DA0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8CD-44A7-87C0-8F9304D4DA04}"/>
              </c:ext>
            </c:extLst>
          </c:dPt>
          <c:dPt>
            <c:idx val="5"/>
            <c:invertIfNegative val="0"/>
            <c:bubble3D val="0"/>
            <c:spPr>
              <a:solidFill>
                <a:srgbClr val="C2C6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8CD-44A7-87C0-8F9304D4DA04}"/>
              </c:ext>
            </c:extLst>
          </c:dPt>
          <c:dPt>
            <c:idx val="6"/>
            <c:invertIfNegative val="0"/>
            <c:bubble3D val="0"/>
            <c:spPr>
              <a:solidFill>
                <a:srgbClr val="9AA0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8CD-44A7-87C0-8F9304D4DA04}"/>
              </c:ext>
            </c:extLst>
          </c:dPt>
          <c:dPt>
            <c:idx val="7"/>
            <c:invertIfNegative val="0"/>
            <c:bubble3D val="0"/>
            <c:spPr>
              <a:solidFill>
                <a:srgbClr val="9AA0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8CD-44A7-87C0-8F9304D4DA04}"/>
              </c:ext>
            </c:extLst>
          </c:dPt>
          <c:dPt>
            <c:idx val="8"/>
            <c:invertIfNegative val="0"/>
            <c:bubble3D val="0"/>
            <c:spPr>
              <a:solidFill>
                <a:srgbClr val="9AA0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8CD-44A7-87C0-8F9304D4DA04}"/>
              </c:ext>
            </c:extLst>
          </c:dPt>
          <c:dPt>
            <c:idx val="9"/>
            <c:invertIfNegative val="0"/>
            <c:bubble3D val="0"/>
            <c:spPr>
              <a:solidFill>
                <a:srgbClr val="5C63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8CD-44A7-87C0-8F9304D4DA0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 i="0" u="none" strike="noStrike">
                    <a:solidFill>
                      <a:srgbClr val="1A1D2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PPO
(LR+Attn)</c:v>
                </c:pt>
                <c:pt idx="1">
                  <c:v>BC
(MLP)</c:v>
                </c:pt>
                <c:pt idx="2">
                  <c:v>BC
(XGB)</c:v>
                </c:pt>
                <c:pt idx="3">
                  <c:v>PPO
GRU</c:v>
                </c:pt>
                <c:pt idx="4">
                  <c:v>PPO
(XGB sc.)</c:v>
                </c:pt>
                <c:pt idx="5">
                  <c:v>Reject
all</c:v>
                </c:pt>
                <c:pt idx="6">
                  <c:v>Fixed
Aggr.</c:v>
                </c:pt>
                <c:pt idx="7">
                  <c:v>Fixed
Cons.</c:v>
                </c:pt>
                <c:pt idx="8">
                  <c:v>Budget
Aware</c:v>
                </c:pt>
                <c:pt idx="9">
                  <c:v>Greedy
/ LP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0.55000000000000004</c:v>
                </c:pt>
                <c:pt idx="1">
                  <c:v>3.23</c:v>
                </c:pt>
                <c:pt idx="2">
                  <c:v>-10.130000000000001</c:v>
                </c:pt>
                <c:pt idx="3">
                  <c:v>0.98</c:v>
                </c:pt>
                <c:pt idx="4">
                  <c:v>1.35</c:v>
                </c:pt>
                <c:pt idx="5">
                  <c:v>-3.58</c:v>
                </c:pt>
                <c:pt idx="6">
                  <c:v>4.88</c:v>
                </c:pt>
                <c:pt idx="7">
                  <c:v>6</c:v>
                </c:pt>
                <c:pt idx="8">
                  <c:v>6.07</c:v>
                </c:pt>
                <c:pt idx="9">
                  <c:v>8.4600000000000009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8CD-44A7-87C0-8F9304D4DA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3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-12"/>
        </c:scaling>
        <c:delete val="1"/>
        <c:axPos val="l"/>
        <c:majorGridlines>
          <c:spPr>
            <a:ln w="635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cum. profit (M)</c:v>
                </c:pt>
              </c:strCache>
            </c:strRef>
          </c:tx>
          <c:spPr>
            <a:solidFill>
              <a:srgbClr val="2B303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1A1D2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8.4600000000000009</c:v>
                </c:pt>
                <c:pt idx="1">
                  <c:v>9.24</c:v>
                </c:pt>
                <c:pt idx="2">
                  <c:v>9.26</c:v>
                </c:pt>
                <c:pt idx="3">
                  <c:v>10.73</c:v>
                </c:pt>
                <c:pt idx="4">
                  <c:v>10.77</c:v>
                </c:pt>
                <c:pt idx="5">
                  <c:v>9.41</c:v>
                </c:pt>
                <c:pt idx="6">
                  <c:v>10.46</c:v>
                </c:pt>
                <c:pt idx="7">
                  <c:v>10.76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D7-4D01-9F46-9DFEC52567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majorGridlines>
          <c:spPr>
            <a:ln w="635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Liquidation rate (%)</c:v>
                </c:pt>
              </c:strCache>
            </c:strRef>
          </c:tx>
          <c:spPr>
            <a:ln w="38100" cap="flat">
              <a:solidFill>
                <a:srgbClr val="1A1D2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D21"/>
              </a:solidFill>
              <a:ln w="9525" cap="flat">
                <a:solidFill>
                  <a:srgbClr val="1A1D21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1A1D21"/>
                    </a:solidFill>
                    <a:latin typeface="Arial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8.6</c:v>
                </c:pt>
                <c:pt idx="1">
                  <c:v>6.3</c:v>
                </c:pt>
                <c:pt idx="2">
                  <c:v>6.6</c:v>
                </c:pt>
                <c:pt idx="3">
                  <c:v>3.7</c:v>
                </c:pt>
                <c:pt idx="4">
                  <c:v>3.5</c:v>
                </c:pt>
                <c:pt idx="5">
                  <c:v>4.7</c:v>
                </c:pt>
                <c:pt idx="6">
                  <c:v>2.2999999999999998</c:v>
                </c:pt>
                <c:pt idx="7">
                  <c:v>4.3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405-4066-BC6B-9E42969B944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0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PPO margin (M)</c:v>
                </c:pt>
              </c:strCache>
            </c:strRef>
          </c:tx>
          <c:spPr>
            <a:solidFill>
              <a:srgbClr val="1A1D2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A1D2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High-risk
×1.5</c:v>
                </c:pt>
                <c:pt idx="1">
                  <c:v>Test
(low stress)</c:v>
                </c:pt>
                <c:pt idx="2">
                  <c:v>Test</c:v>
                </c:pt>
                <c:pt idx="3">
                  <c:v>Recovery
×0.5</c:v>
                </c:pt>
                <c:pt idx="4">
                  <c:v>Liquidity
×0.7</c:v>
                </c:pt>
                <c:pt idx="5">
                  <c:v>Validation</c:v>
                </c:pt>
                <c:pt idx="6">
                  <c:v>Combined
stress</c:v>
                </c:pt>
                <c:pt idx="7">
                  <c:v>Default
×2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4.4400000000000004</c:v>
                </c:pt>
                <c:pt idx="1">
                  <c:v>3.78</c:v>
                </c:pt>
                <c:pt idx="2">
                  <c:v>3.55</c:v>
                </c:pt>
                <c:pt idx="3">
                  <c:v>2.83</c:v>
                </c:pt>
                <c:pt idx="4">
                  <c:v>2.79</c:v>
                </c:pt>
                <c:pt idx="5">
                  <c:v>2.75</c:v>
                </c:pt>
                <c:pt idx="6">
                  <c:v>0.3</c:v>
                </c:pt>
                <c:pt idx="7">
                  <c:v>3.6000000000000002E-4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5-4F84-B574-4EE4DAF653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3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4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- 1~3 page: </a:t>
            </a:r>
            <a:r>
              <a:rPr lang="ko-KR" altLang="en-US" b="1" dirty="0"/>
              <a:t>서정호</a:t>
            </a:r>
            <a:endParaRPr lang="en-US" altLang="ko-KR" b="1" dirty="0"/>
          </a:p>
          <a:p>
            <a:r>
              <a:rPr lang="en-US" b="1" dirty="0"/>
              <a:t>- 4~7 page: </a:t>
            </a:r>
            <a:r>
              <a:rPr lang="ko-KR" altLang="en-US" b="1" dirty="0" err="1"/>
              <a:t>조후연</a:t>
            </a:r>
            <a:endParaRPr lang="en-US" altLang="ko-KR" b="1" dirty="0"/>
          </a:p>
          <a:p>
            <a:r>
              <a:rPr lang="en-US" b="1" dirty="0"/>
              <a:t>- 8~13 page: </a:t>
            </a:r>
            <a:r>
              <a:rPr lang="ko-KR" altLang="en-US" b="1" dirty="0"/>
              <a:t>김재환</a:t>
            </a:r>
            <a:endParaRPr lang="en-US" altLang="ko-KR" b="1" dirty="0"/>
          </a:p>
          <a:p>
            <a:r>
              <a:rPr lang="ko-KR" altLang="en-US" b="1" dirty="0"/>
              <a:t>발표 예정</a:t>
            </a:r>
            <a:r>
              <a:rPr lang="en-US" altLang="ko-KR" b="1" dirty="0"/>
              <a:t>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FFF4-AD7E-9813-5AC6-501591CB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23547-77F7-0518-292C-AD1F8C5F9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B235A-CC6A-6FE8-BC08-502C1A94E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40745-BEBD-FBDD-14F2-569548362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63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김재환님</a:t>
            </a:r>
            <a:r>
              <a:rPr lang="en-US" altLang="ko-KR" dirty="0"/>
              <a:t>~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solidFill>
            <a:srgbClr val="1A1D21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DGIST · CSE402 · REINFORCEMENT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 for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Capital Allocation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86968" y="36118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stress-aware lending simulator and a segment-attention PPO policy that stays safe and profitable under stress.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" y="4709160"/>
            <a:ext cx="3840480" cy="0"/>
          </a:xfrm>
          <a:prstGeom prst="line">
            <a:avLst/>
          </a:prstGeom>
          <a:noFill/>
          <a:ln w="19050">
            <a:solidFill>
              <a:srgbClr val="4A5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6968" y="4983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04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Jeong-ho  (2020-11101)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Jae-hwan  (2021-11038)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Hu-yeon  (2022-11195)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4983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400" dirty="0"/>
          </a:p>
          <a:p>
            <a:pPr marL="0" indent="0" algn="r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Lee, Doo Seok</a:t>
            </a:r>
            <a:endParaRPr lang="en-US" sz="1400" dirty="0"/>
          </a:p>
          <a:p>
            <a:pPr marL="0" indent="0" algn="r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02, 2026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144000" y="146304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every lender faces each month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limited cash and binding capital &amp; liquidity constraints, how should new capital be allocated across borrower segments of differing risk, size, and maturity?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49240" cy="192024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82296" cy="192024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072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temptation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8680" y="33832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Higher-risk borrowers carry higher rates and larger short-term margins — pulling capital toward risky, high-yield segments.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46520" y="2514600"/>
            <a:ext cx="5349240" cy="1920240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8072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9208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catastrophe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766560" y="33832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exactly what destroys a bank under stress: clustered defaults erode capital, and a cash drain forces fire-sale liquidation — a non-linear collapse.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389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937760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one-shot optimization.  </a:t>
            </a:r>
            <a:r>
              <a:rPr lang="en-US" sz="13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deployed today stays on the loan book for months — shaping future liquidity, capital ratios, and risk. This is a </a:t>
            </a: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decision under uncertainty</a:t>
            </a:r>
            <a:r>
              <a:rPr lang="en-US" sz="13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exactly what reinforcement learning is built for.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design principles that frame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41732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2121408"/>
            <a:ext cx="658368" cy="658368"/>
          </a:xfrm>
          <a:prstGeom prst="ellipse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1945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87168" y="193852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predicts risk · RL allocates capital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487168" y="2340864"/>
            <a:ext cx="8823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model estimates borrower default risk; that signal calibrates the segment economics. The RL policy then makes the monthly bank-level allocation. RL never prices individual loans.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410712"/>
            <a:ext cx="11064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  <a:prstDash val="solid"/>
          </a:ln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68680" y="3794760"/>
            <a:ext cx="658368" cy="658368"/>
          </a:xfrm>
          <a:prstGeom prst="ellipse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8680" y="3794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86791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7168" y="36118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Calibration, not counterfactual evaluation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487168" y="4014216"/>
            <a:ext cx="8823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historical logs as action–reward trajectories suffers severe distribution shift. We use Lending Club data only to calibrate the simulator — never to directly evaluate the policy.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5084064"/>
            <a:ext cx="11064240" cy="1097280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85816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5175504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  </a:t>
            </a:r>
            <a:r>
              <a:rPr lang="en-US" sz="13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stress-aware lending simulator, a segment-attention PPO policy with a primal-dual liquidation constraint, benchmarked against a full baseline suite under normal and stressed conditions.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alt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MDP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Formalizing the monthly allocation as an MDP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657600" cy="4480560"/>
          </a:xfrm>
          <a:prstGeom prst="rect">
            <a:avLst/>
          </a:prstGeom>
          <a:solidFill>
            <a:srgbClr val="1A1D21"/>
          </a:solidFill>
          <a:ln/>
          <a:effectLst>
            <a:outerShdw blurRad="88900" dist="38100" dir="8100000" algn="bl" rotWithShape="0">
              <a:srgbClr val="9AA0A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FINITE-HORIZON MDP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48840" y="2240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decision horizon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48840" y="28620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terminal run-off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4838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48840" y="34838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dimensions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105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148840" y="41056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dimensions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864608"/>
            <a:ext cx="3154680" cy="0"/>
          </a:xfrm>
          <a:prstGeom prst="line">
            <a:avLst/>
          </a:prstGeom>
          <a:noFill/>
          <a:ln w="12700">
            <a:solidFill>
              <a:srgbClr val="3F4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248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E[ profit / initial cash 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596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liquidation rate ≤ 3%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1682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— four concatenated blocks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2029968"/>
            <a:ext cx="7086600" cy="93268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26280" y="2029968"/>
            <a:ext cx="1024128" cy="932688"/>
          </a:xfrm>
          <a:prstGeom prst="rect">
            <a:avLst/>
          </a:prstGeom>
          <a:solidFill>
            <a:srgbClr val="2B30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26280" y="2029968"/>
            <a:ext cx="1024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5715000" y="213969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risk state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715000" y="24505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capital ratios, LCR, CAR, RWA, regime multipliers, stress intensity, mean fatigue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26280" y="3063240"/>
            <a:ext cx="7086600" cy="93268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26280" y="3063240"/>
            <a:ext cx="1024128" cy="932688"/>
          </a:xfrm>
          <a:prstGeom prst="rect">
            <a:avLst/>
          </a:prstGeom>
          <a:solidFill>
            <a:srgbClr val="2B30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26280" y="3063240"/>
            <a:ext cx="1024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5715000" y="317296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Per-segment demand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715000" y="348386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 across 5 risk × 3 amount × 2 term = 30 segments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26280" y="4096512"/>
            <a:ext cx="7086600" cy="93268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26280" y="4096512"/>
            <a:ext cx="1024128" cy="932688"/>
          </a:xfrm>
          <a:prstGeom prst="rect">
            <a:avLst/>
          </a:prstGeom>
          <a:solidFill>
            <a:srgbClr val="2B30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26280" y="4096512"/>
            <a:ext cx="1024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5715000" y="42062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× maturity exposure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715000" y="451713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 remaining to maturity (30 × 6)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26280" y="5129784"/>
            <a:ext cx="7086600" cy="93268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526280" y="5129784"/>
            <a:ext cx="1024128" cy="932688"/>
          </a:xfrm>
          <a:prstGeom prst="rect">
            <a:avLst/>
          </a:prstGeom>
          <a:solidFill>
            <a:srgbClr val="2B30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26280" y="5129784"/>
            <a:ext cx="10241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5715000" y="52395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calibration params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5715000" y="555040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EPR, risk-adjusted EPR, stress sensitivity, duration pressure, readiness, fatigue (6 × 30)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ENVIRONMENT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environment built to defeat myopia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91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 — liquidation on breach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5440680" cy="1078992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14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Capital-adequacy liquidation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81328" y="2395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= capital / RWA falls below 8% (BIS-style floor).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883664"/>
            <a:ext cx="5440680" cy="1078992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1214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4888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Liquidity-shortfall liquidation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104888" y="2395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falls below required liquidity — a 60% haircut on current assets.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3218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THAT PUNISH SHORT-SIGHTED CONCENTRATION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529584"/>
            <a:ext cx="5440680" cy="1225296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22960" y="3840480"/>
            <a:ext cx="603504" cy="6035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98678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36941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AR(1) macro regime (ρ = 0.85)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572768" y="40599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default risk move with a persistent cycle; downturns linger. High-risk segments react hardest.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72200" y="3529584"/>
            <a:ext cx="5440680" cy="1225296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446520" y="3840480"/>
            <a:ext cx="603504" cy="6035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398678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6328" y="36941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Stochastic stress shocks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196328" y="40599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drain, funding-cost spike, capital hit, and — most dangerously — super-linear default clustering.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864608"/>
            <a:ext cx="5440680" cy="1225296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22960" y="5175504"/>
            <a:ext cx="603504" cy="6035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532180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72768" y="50292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Post-crisis recovery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572768" y="5394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concentrates in low-risk, positive-EPR segments — upside only a surviving bank can capture.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72200" y="4864608"/>
            <a:ext cx="5440680" cy="1225296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6446520" y="5175504"/>
            <a:ext cx="603504" cy="6035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5321808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96328" y="50292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fatigue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196328" y="5394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Concentrating on one segment raises its future default risk and lowers margin — forcing rotation.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Transformer policy trained by PPO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segments are treated as tokens and encoded by a Transformer (4 heads · 3 layers · hidden 384). The Transformer makes each decision; PPO trains its weights from reward.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ARCHITECTURE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074920" cy="676656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4320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57860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segment tokens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236976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81528" y="3255264"/>
            <a:ext cx="0" cy="0"/>
          </a:xfrm>
          <a:prstGeom prst="line">
            <a:avLst/>
          </a:prstGeom>
          <a:noFill/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48640" y="3310128"/>
            <a:ext cx="5074920" cy="676656"/>
          </a:xfrm>
          <a:prstGeom prst="rect">
            <a:avLst/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74720"/>
            <a:ext cx="347472" cy="3474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13232" y="34290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5021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31012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encoder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968496"/>
            <a:ext cx="274320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081528" y="3986784"/>
            <a:ext cx="0" cy="0"/>
          </a:xfrm>
          <a:prstGeom prst="line">
            <a:avLst/>
          </a:prstGeom>
          <a:noFill/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548640" y="4041648"/>
            <a:ext cx="5074920" cy="676656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206240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25880" y="404164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shared heads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548640" y="4663440"/>
            <a:ext cx="5074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548640" y="4663440"/>
            <a:ext cx="73152" cy="438912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/>
          <p:nvPr/>
        </p:nvSpPr>
        <p:spPr>
          <a:xfrm>
            <a:off x="713232" y="46634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segment_actor — per-segment score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548640" y="5166360"/>
            <a:ext cx="5074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548640" y="5166360"/>
            <a:ext cx="73152" cy="438912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/>
          <p:nvPr/>
        </p:nvSpPr>
        <p:spPr>
          <a:xfrm>
            <a:off x="713232" y="51663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deploy_actor — global deploy scalar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8640" y="5669280"/>
            <a:ext cx="5074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548640" y="5669280"/>
            <a:ext cx="73152" cy="438912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/>
          <p:nvPr/>
        </p:nvSpPr>
        <p:spPr>
          <a:xfrm>
            <a:off x="713232" y="56692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 V(s) — advantage only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1722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LEARNING LOOP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172200" y="2578608"/>
            <a:ext cx="5440680" cy="65836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6355080" y="2724912"/>
            <a:ext cx="365760" cy="365760"/>
          </a:xfrm>
          <a:prstGeom prst="ellipse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7"/>
          <p:cNvSpPr/>
          <p:nvPr/>
        </p:nvSpPr>
        <p:spPr>
          <a:xfrm>
            <a:off x="63550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858000" y="257860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rollouts of the policy in the simulator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172200" y="3300984"/>
            <a:ext cx="5440680" cy="65836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6355080" y="3447288"/>
            <a:ext cx="365760" cy="365760"/>
          </a:xfrm>
          <a:prstGeom prst="ellipse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/>
          <p:nvPr/>
        </p:nvSpPr>
        <p:spPr>
          <a:xfrm>
            <a:off x="635508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858000" y="330098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advantages via GAE — critic V(s) vs realized reward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172200" y="4023360"/>
            <a:ext cx="5440680" cy="658368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4"/>
          <p:cNvSpPr/>
          <p:nvPr/>
        </p:nvSpPr>
        <p:spPr>
          <a:xfrm>
            <a:off x="6355080" y="4169664"/>
            <a:ext cx="365760" cy="365760"/>
          </a:xfrm>
          <a:prstGeom prst="ellipse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/>
          <p:cNvSpPr/>
          <p:nvPr/>
        </p:nvSpPr>
        <p:spPr>
          <a:xfrm>
            <a:off x="635508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6858000" y="40233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surrogate step raises better-than-expected actions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172200" y="479145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0.99 · λ 0.95 · clip 0.2 · lr 1e-5 · 4096 ep.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72200" y="5138928"/>
            <a:ext cx="5440680" cy="960120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413248"/>
            <a:ext cx="411480" cy="4114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040880" y="5212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constraint.  </a:t>
            </a: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dual λ tracks constraint violation; grid search set λ=1, training converged to λ≈1.26.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E0FE-A182-D972-809D-E8682D895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0D450F-BA7D-5B8D-1A41-A1BA7E9BF84D}"/>
              </a:ext>
            </a:extLst>
          </p:cNvPr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ALGORITHM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9E0C1B-054D-A47B-CE8D-92EBD29D18FF}"/>
              </a:ext>
            </a:extLst>
          </p:cNvPr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Transformer policy trained by PPO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3C9BF5-EE3F-7323-1A09-2EB5B5F62ADE}"/>
              </a:ext>
            </a:extLst>
          </p:cNvPr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F66A7F-692F-E868-18FC-C32E3322F8E7}"/>
              </a:ext>
            </a:extLst>
          </p:cNvPr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DD6B727B-BD05-D902-54B7-267D8B9A49D1}"/>
              </a:ext>
            </a:extLst>
          </p:cNvPr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9F5B8BED-ADB1-C65F-8392-691F9BC53BDD}"/>
              </a:ext>
            </a:extLst>
          </p:cNvPr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 14</a:t>
            </a:r>
            <a:endParaRPr lang="en-US" sz="900" dirty="0"/>
          </a:p>
        </p:txBody>
      </p:sp>
      <p:pic>
        <p:nvPicPr>
          <p:cNvPr id="51" name="image1.png">
            <a:extLst>
              <a:ext uri="{FF2B5EF4-FFF2-40B4-BE49-F238E27FC236}">
                <a16:creationId xmlns:a16="http://schemas.microsoft.com/office/drawing/2014/main" id="{DF0111E5-E838-12D7-8FC9-FEFDC2143A9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11445" y="1301432"/>
            <a:ext cx="5969110" cy="55919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4576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DATA &amp; BASELINES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Leakage-aware calibration · honest baselines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0" cy="4462272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47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calibration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Leakage-aware risk model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76148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logistic regression. Post-decision variables (rate, installment, grade) excluded — using them would leak the answer.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511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Chronological split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80390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2007-06 → 2015-06 · Val → 2017-10 · Test → 2018-12. Never evaluate the past with future data.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Segment-level calibration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484632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probabilities from empirical bad rates, not a scaling of the mean score.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5541264"/>
            <a:ext cx="4480560" cy="457200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60120" y="55412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AUC 0.695   ·   Test AUC 0.677   </a:t>
            </a:r>
            <a:r>
              <a:rPr lang="en-US" sz="1150" i="1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honest, by design</a:t>
            </a:r>
            <a:endParaRPr lang="en-US" sz="11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55648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65392" y="1700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suite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331720"/>
          <a:ext cx="5577840" cy="35661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reject_all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C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capital every month — lower bound; idle-cash drag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fixed_conservative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C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two risk buckets · 55%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fixed_aggressive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C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buckets · 90% deployment, lower-risk weighted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budget_aware_heuristic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C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Adjusts risk range &amp; deploy fraction by liquidity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greedy / one-step LP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C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by expected profit rate until safe capacity hit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EXPLORATION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naive PPO is not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final design, we compared policy methodologies, actor architectures, and risk scorers (800 episodes each, low-stress conditions). At this stage, allocation scoring used raw EPR (expected-profit rate).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PROFIT (M$) — RL / ML variants vs baselines  ·  scoring criterion: EPR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432304"/>
          <a:ext cx="7680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797296"/>
            <a:ext cx="164592" cy="164592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59536" y="5742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/ ML policy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0" y="5797296"/>
            <a:ext cx="164592" cy="164592"/>
          </a:xfrm>
          <a:prstGeom prst="rect">
            <a:avLst/>
          </a:prstGeom>
          <a:solidFill>
            <a:srgbClr val="9AA0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962656" y="5742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83480" y="5797296"/>
            <a:ext cx="164592" cy="164592"/>
          </a:xfrm>
          <a:prstGeom prst="rect">
            <a:avLst/>
          </a:prstGeom>
          <a:solidFill>
            <a:srgbClr val="8A4A5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202936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Liquidated (BC-XGB)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321040" y="2432304"/>
            <a:ext cx="3291840" cy="1078992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522208" y="2542032"/>
            <a:ext cx="2926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(MLP) = 3.23M.  </a:t>
            </a: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the learned policies — but it just imitates the heuristic, still below it.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3639312"/>
            <a:ext cx="3291840" cy="1078992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522208" y="3749040"/>
            <a:ext cx="2926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GRU = 0.98M.  </a:t>
            </a: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temporal structure, yet tuning alone never overturned the heuristic edge.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1040" y="4846320"/>
            <a:ext cx="3291840" cy="1371600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504748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034272" y="50109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 (XGB) collapsed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549640" y="54132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−10.13M </a:t>
            </a:r>
            <a:r>
              <a:rPr lang="en-US" sz="110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liquidations (5.5%)</a:t>
            </a:r>
            <a:r>
              <a:rPr lang="en-US" sz="110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ko-KR" altLang="ko-KR" sz="1100" dirty="0" err="1">
                <a:solidFill>
                  <a:schemeClr val="bg1"/>
                </a:solidFill>
              </a:rPr>
              <a:t>XGBoost</a:t>
            </a:r>
            <a:r>
              <a:rPr lang="ko-KR" altLang="ko-KR" sz="1100" dirty="0">
                <a:solidFill>
                  <a:schemeClr val="bg1"/>
                </a:solidFill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</a:rPr>
              <a:t>decomposes</a:t>
            </a:r>
            <a:r>
              <a:rPr lang="ko-KR" altLang="ko-KR" sz="1100" dirty="0">
                <a:solidFill>
                  <a:schemeClr val="bg1"/>
                </a:solidFill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</a:rPr>
              <a:t>the</a:t>
            </a:r>
            <a:r>
              <a:rPr lang="ko-KR" altLang="ko-KR" sz="1100" dirty="0">
                <a:solidFill>
                  <a:schemeClr val="bg1"/>
                </a:solidFill>
              </a:rPr>
              <a:t> 31-dimensional </a:t>
            </a:r>
            <a:r>
              <a:rPr lang="ko-KR" altLang="ko-KR" sz="1100" dirty="0" err="1">
                <a:solidFill>
                  <a:schemeClr val="bg1"/>
                </a:solidFill>
              </a:rPr>
              <a:t>continuous</a:t>
            </a:r>
            <a:r>
              <a:rPr lang="ko-KR" altLang="ko-KR" sz="1100" dirty="0">
                <a:solidFill>
                  <a:schemeClr val="bg1"/>
                </a:solidFill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</a:rPr>
              <a:t>output</a:t>
            </a:r>
            <a:r>
              <a:rPr lang="ko-KR" altLang="ko-KR" sz="1100" dirty="0">
                <a:solidFill>
                  <a:schemeClr val="bg1"/>
                </a:solidFill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</a:rPr>
              <a:t>into</a:t>
            </a:r>
            <a:r>
              <a:rPr lang="ko-KR" altLang="ko-KR" sz="1100" dirty="0">
                <a:solidFill>
                  <a:schemeClr val="bg1"/>
                </a:solidFill>
              </a:rPr>
              <a:t> 31 </a:t>
            </a:r>
            <a:r>
              <a:rPr lang="ko-KR" altLang="ko-KR" sz="1100" dirty="0" err="1">
                <a:solidFill>
                  <a:schemeClr val="bg1"/>
                </a:solidFill>
              </a:rPr>
              <a:t>isolated</a:t>
            </a:r>
            <a:r>
              <a:rPr lang="ko-KR" altLang="ko-KR" sz="1100" dirty="0">
                <a:solidFill>
                  <a:schemeClr val="bg1"/>
                </a:solidFill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</a:rPr>
              <a:t>regression</a:t>
            </a:r>
            <a:r>
              <a:rPr lang="ko-KR" altLang="ko-KR" sz="1100" dirty="0">
                <a:solidFill>
                  <a:schemeClr val="bg1"/>
                </a:solidFill>
              </a:rPr>
              <a:t> </a:t>
            </a:r>
            <a:r>
              <a:rPr lang="ko-KR" altLang="ko-KR" sz="1100" dirty="0" err="1">
                <a:solidFill>
                  <a:schemeClr val="bg1"/>
                </a:solidFill>
              </a:rPr>
              <a:t>problems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FINAL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converges: profit up, liquidations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 episodes, averaged into 8 blocks. Profit rises ~27%, in-training liquidation falls from 8.6% toward 2–4%, and the dual λ climbs as the constraint tightens. </a:t>
            </a:r>
            <a:r>
              <a:rPr lang="en-US" sz="1300" b="1" i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criterion now uses risk-adjusted EPR (RA-EPR), not raw EPR — the upgrade from the exploration phase.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CUMULATIVE PROFIT (M$) PER BLOCK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542032"/>
          <a:ext cx="74980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3708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IN-TRAINING LIQUIDATION RATE (%) PER BLOCK</a:t>
            </a:r>
            <a:endParaRPr lang="en-US" sz="10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548640" y="4626864"/>
          <a:ext cx="74980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8229600" y="2286000"/>
            <a:ext cx="3383280" cy="914400"/>
          </a:xfrm>
          <a:prstGeom prst="rect">
            <a:avLst/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8430768" y="2395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+27%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430768" y="27797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cumulative profit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(≈8.46M → 10.76M)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3310128"/>
            <a:ext cx="3383280" cy="9144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430768" y="34198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8.6% → 2–4%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8430768" y="3803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in-training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rate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4334256"/>
            <a:ext cx="3383280" cy="9144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8430768" y="44439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1.05 → 1.25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8430768" y="4828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variable λ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monotonically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229600" y="537667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episodes range −8M to +35M — the environment itself is volatile; the point is block averages rise while liquidations fall.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LOW-STRESS CONDITIONS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under low stress, myopia liquidates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Low-stress test set, 1,000 episodes. PPO leads on profit — but the more important reading is failure behavior.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903720" cy="3968496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(low-stress 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+ ppo_rl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12,061,410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budget_aware_heuristic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8,279,435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fixed_conservative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7,604,152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fixed_aggressive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7,316,093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greedy / one-step LP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2,821,473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reject_all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−3,577,121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2148840"/>
            <a:ext cx="3886200" cy="1874520"/>
          </a:xfrm>
          <a:prstGeom prst="rect">
            <a:avLst/>
          </a:prstGeom>
          <a:solidFill>
            <a:srgbClr val="1A1D21"/>
          </a:solidFill>
          <a:ln/>
          <a:effectLst>
            <a:outerShdw blurRad="88900" dist="38100" dir="8100000" algn="bl" rotWithShape="0">
              <a:srgbClr val="9AA0A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726680" y="22860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21.8%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7955280" y="32004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greedy / one-step-LP episodes liquidate — even in a low-stress market</a:t>
            </a:r>
            <a:endParaRPr lang="en-US" sz="1250" dirty="0"/>
          </a:p>
        </p:txBody>
      </p:sp>
      <p:sp>
        <p:nvSpPr>
          <p:cNvPr id="7" name="Shape 8"/>
          <p:cNvSpPr/>
          <p:nvPr/>
        </p:nvSpPr>
        <p:spPr>
          <a:xfrm>
            <a:off x="7726680" y="4206240"/>
            <a:ext cx="3886200" cy="1719072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4074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58200" y="43708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they fail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55280" y="482803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single-period optimizers ignore the liquidity and capital consequences of concentration — so they collapse on their own.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STRESS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wins in all 8 environments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validation, test, low-stress, and five explicit stress scenarios, PPO beats the best baseline by a positive margin every time — holding liquidation between 0.0% and 1.7%.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MARGIN OVER BEST BASELINE (M$)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560320"/>
          <a:ext cx="7589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2560320"/>
            <a:ext cx="3200400" cy="1627632"/>
          </a:xfrm>
          <a:prstGeom prst="rect">
            <a:avLst/>
          </a:prstGeom>
          <a:solidFill>
            <a:srgbClr val="1A1D21"/>
          </a:solidFill>
          <a:ln/>
          <a:effectLst>
            <a:outerShdw blurRad="63500" dist="25400" dir="8100000" algn="bl" rotWithShape="0">
              <a:srgbClr val="B8BCC2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412480" y="2670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+4.44M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13648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demand ×1.5 — PPO's largest margin. It best resists the volume temptation that destroys myopic strategies.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0" y="4315968"/>
            <a:ext cx="3200400" cy="1609344"/>
          </a:xfrm>
          <a:prstGeom prst="rect">
            <a:avLst/>
          </a:prstGeom>
          <a:solidFill>
            <a:srgbClr val="F4F5F6"/>
          </a:solidFill>
          <a:ln w="127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412480" y="44256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+355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613648" y="4901184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×2 — smallest margin. When defaults double, barely lending is near-optimal, so every sensible policy converges; PPO still edges ahead at 0% liquidation.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CORE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non-trivial solution: profit and safety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solidFill>
            <a:srgbClr val="1A1D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048695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stress-inclusive test set, the contrast is stark. PPO's 5% CVaR is ~5× better than the myopic optimizers', whose profit nearly vanishes.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7315200" cy="35844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(test)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Cum. profit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CVaR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+ ppo_rl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10,039,693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−6,204,228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budget_aware_heuristic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6,494,083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−6,176,771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fixed_conservative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5,813,232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−6,269,750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fixed_aggressive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5,464,896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−7,207,517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greedy / one-step LP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433,248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−30,432,738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reject_all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−3,577,121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−3,577,121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2148840"/>
            <a:ext cx="3520440" cy="3657600"/>
          </a:xfrm>
          <a:prstGeom prst="rect">
            <a:avLst/>
          </a:prstGeom>
          <a:solidFill>
            <a:srgbClr val="1A1D21"/>
          </a:solidFill>
          <a:ln/>
          <a:effectLst>
            <a:outerShdw blurRad="88900" dist="38100" dir="8100000" algn="bl" rotWithShape="0">
              <a:srgbClr val="9AA0A8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377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42832" y="2359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middle path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366760" y="2926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PPO's default loss ($8.99M) exceeds the conservative policies' ($6.11M) — it did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avoid risk.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366760" y="37856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deployed more capital, more aggressively, while managing risk precisely enough to keep liquidation near zero.</a:t>
            </a:r>
            <a:endParaRPr lang="en-US" sz="1200" dirty="0"/>
          </a:p>
        </p:txBody>
      </p:sp>
      <p:sp>
        <p:nvSpPr>
          <p:cNvPr id="7" name="Shape 9"/>
          <p:cNvSpPr/>
          <p:nvPr/>
        </p:nvSpPr>
        <p:spPr>
          <a:xfrm>
            <a:off x="8366760" y="4828032"/>
            <a:ext cx="2834640" cy="0"/>
          </a:xfrm>
          <a:prstGeom prst="line">
            <a:avLst/>
          </a:prstGeom>
          <a:noFill/>
          <a:ln w="12700">
            <a:solidFill>
              <a:srgbClr val="3F46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8366760" y="4956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 and safety at the same time — between the safe-but-low and the high-yield-but-catastrophic corners.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Capital Allocation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solidFill>
            <a:srgbClr val="1A1D21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reinforcement learning belongs 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86968" y="19385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is obliged to be conservative — it must preserve both safety and profitability even under stress, not only in low-stress markets.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3456432" cy="2011680"/>
          </a:xfrm>
          <a:prstGeom prst="rect">
            <a:avLst/>
          </a:prstGeom>
          <a:solidFill>
            <a:srgbClr val="23272D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29992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1363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37944" y="29809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low-stress markets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365760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heuristic — or a BC model imitating it — is competitive, and a naive PPO is not obviously better.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08576" y="2743200"/>
            <a:ext cx="3456432" cy="2011680"/>
          </a:xfrm>
          <a:prstGeom prst="rect">
            <a:avLst/>
          </a:prstGeom>
          <a:solidFill>
            <a:srgbClr val="23272D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882896" y="29992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31363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9809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stress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82896" y="365760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upgraded PPO + LP framework is the only approach that sustains profit and avoids the liquidation catastrophe.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48472" y="2743200"/>
            <a:ext cx="3456432" cy="2011680"/>
          </a:xfrm>
          <a:prstGeom prst="rect">
            <a:avLst/>
          </a:prstGeom>
          <a:solidFill>
            <a:srgbClr val="23272D"/>
          </a:solidFill>
          <a:ln w="12700">
            <a:solidFill>
              <a:srgbClr val="3A40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622792" y="29992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313639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17736" y="29809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 edge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622792" y="365760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RL's ability to internalize future, non-linear risk wins precisely in the stress-aware regime of responsible banking.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68680" y="4983480"/>
            <a:ext cx="10936224" cy="1051560"/>
          </a:xfrm>
          <a:prstGeom prst="rect">
            <a:avLst/>
          </a:prstGeom>
          <a:solidFill>
            <a:srgbClr val="1A1D21"/>
          </a:solidFill>
          <a:ln w="12700">
            <a:solidFill>
              <a:srgbClr val="4A5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524865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5029200"/>
            <a:ext cx="993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Limitations.  </a:t>
            </a:r>
            <a:r>
              <a:rPr lang="en-US" sz="1100" dirty="0">
                <a:solidFill>
                  <a:srgbClr val="B0B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hold within a calibrated simulator, not the real market; risk-scorer AUC (≈0.68) is modest by design; some environment parameters are reasoned assumptions. Future work: data-identify parameters, optimize CVaR directly, extend to multi-institution settings.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1819</Words>
  <Application>Microsoft Office PowerPoint</Application>
  <PresentationFormat>와이드스크린</PresentationFormat>
  <Paragraphs>277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for Bank Capital Allocation</dc:title>
  <dc:subject>PptxGenJS Presentation</dc:subject>
  <dc:creator>Team 04 — DGIST CSE402</dc:creator>
  <cp:lastModifiedBy>서정호</cp:lastModifiedBy>
  <cp:revision>6</cp:revision>
  <dcterms:created xsi:type="dcterms:W3CDTF">2026-06-02T11:57:51Z</dcterms:created>
  <dcterms:modified xsi:type="dcterms:W3CDTF">2026-06-02T12:17:34Z</dcterms:modified>
</cp:coreProperties>
</file>