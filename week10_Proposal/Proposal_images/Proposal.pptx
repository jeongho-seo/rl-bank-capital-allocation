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Optimizing Dynamic Lending Policies for Bank Asset Liquidity Stability and Profit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t>DGIST CSE402 Reinforcement Learning — Team 04</a:t>
            </a:r>
            <a:br/>
            <a:br/>
            <a:r>
              <a:t>서정호 (2020-11101)</a:t>
            </a:r>
            <a:br/>
            <a:r>
              <a:t>김재환 (2021-11038)</a:t>
            </a:r>
            <a:br/>
            <a:r>
              <a:t>조후연 (2022-11195)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2026-04-28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Importance of </a:t>
            </a:r>
            <a:r>
              <a:rPr b="1"/>
              <a:t>liquidity stability</a:t>
            </a:r>
            <a:r>
              <a:t> of the bank’s assets</a:t>
            </a:r>
          </a:p>
          <a:p>
            <a:pPr lvl="0"/>
            <a:r>
              <a:t>Maximizing the bank’s </a:t>
            </a:r>
            <a:r>
              <a:rPr b="1"/>
              <a:t>loan-derived profit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Goal:</a:t>
            </a:r>
            <a:r>
              <a:t> Derive an optimal lending policy that simultaneously maximizes long-term cumulative returns and preserves the bank’s liquidity stability.</a:t>
            </a:r>
          </a:p>
          <a:p>
            <a:pPr lvl="0"/>
            <a:r>
              <a:rPr b="1"/>
              <a:t>P1.</a:t>
            </a:r>
            <a:r>
              <a:t> Asset transition process based on monthly inflow/outflow</a:t>
            </a:r>
          </a:p>
          <a:p>
            <a:pPr lvl="0"/>
            <a:r>
              <a:rPr b="1"/>
              <a:t>P2. [ML1]</a:t>
            </a:r>
            <a:r>
              <a:t> Borrower features → </a:t>
            </a:r>
            <a:r>
              <a:rPr b="1"/>
              <a:t>Total Risk Score</a:t>
            </a:r>
            <a:r>
              <a:t> (single scalar)</a:t>
            </a:r>
          </a:p>
          <a:p>
            <a:pPr lvl="0"/>
            <a:r>
              <a:rPr b="1"/>
              <a:t>P3. [ML2]</a:t>
            </a:r>
            <a:r>
              <a:t> Total Risk Score → Loan condition recommendation</a:t>
            </a:r>
          </a:p>
          <a:p>
            <a:pPr lvl="0"/>
            <a:r>
              <a:rPr b="1"/>
              <a:t>P4. [RL]</a:t>
            </a:r>
            <a:r>
              <a:t> Optimal policy balancing stability and profitability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RQ1.</a:t>
            </a:r>
            <a:r>
              <a:t> How does the risk-score-to-loan-condition mapping curve dynamically change as the bank’s budget state varies?</a:t>
            </a:r>
          </a:p>
          <a:p>
            <a:pPr lvl="0"/>
            <a:r>
              <a:rPr b="1"/>
              <a:t>RQ2.</a:t>
            </a:r>
            <a:r>
              <a:t> Is an RL agent based on monthly aggregated data more effective at preventing asset depletion than per-customer-level modeling?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22EE-0DEA-9760-FF69-EBE263E2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48FC-F96D-D5A5-B57A-28B445B79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Key Literature Reviews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42797-E409-B9CC-902C-4350FE9D8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Chang et al. (2022) — </a:t>
            </a:r>
            <a:r>
              <a:rPr i="1"/>
              <a:t>P2P Lending Credit-Scoring Model using Lending Club data</a:t>
            </a:r>
          </a:p>
        </p:txBody>
      </p:sp>
      <p:pic>
        <p:nvPicPr>
          <p:cNvPr id="3" name="Picture 1" descr="features_reference.png">
            <a:extLst>
              <a:ext uri="{FF2B5EF4-FFF2-40B4-BE49-F238E27FC236}">
                <a16:creationId xmlns:a16="http://schemas.microsoft.com/office/drawing/2014/main" id="{42D09507-C7CF-97FB-7F0D-9E7B2579F0A4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815"/>
            <a:ext cx="51054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082302-65FD-6BFA-DFE8-EDD239E13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80" y="3089279"/>
            <a:ext cx="6348010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16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Dataset: Lending Club</a:t>
            </a:r>
          </a:p>
        </p:txBody>
      </p:sp>
      <p:pic>
        <p:nvPicPr>
          <p:cNvPr id="3" name="Picture 1" descr="Lending_Club_head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ML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[ML1]</a:t>
            </a:r>
            <a:r>
              <a:t> Borrower features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→</m:t>
                </m:r>
              </m:oMath>
            </a14:m>
            <a:r>
              <a:t> Total Risk Score</a:t>
            </a:r>
          </a:p>
          <a:p>
            <a:pPr lvl="0"/>
            <a:r>
              <a:rPr b="1"/>
              <a:t>[ML2]</a:t>
            </a:r>
            <a:r>
              <a:t> Total Risk Score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→</m:t>
                </m:r>
              </m:oMath>
            </a14:m>
            <a:r>
              <a:t> Loan condition recommendation (interest rate, loan period, …)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RL Part — State (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a14:m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a14:m>
            <a:r>
              <a:t>: Bank’s available budget at time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𝑡</m:t>
                </m:r>
              </m:oMath>
            </a14:m>
            <a:r>
              <a:t> (monthly unit)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sSubSup>
                  <m:sSubSupPr>
                    <m:ctrlPr>
                      <a:rPr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sub>
                  <m:sup>
                    <m:r>
                      <a:rPr>
                        <a:latin typeface="Cambria Math" panose="02040503050406030204" pitchFamily="18" charset="0"/>
                      </a:rPr>
                      <m:t>𝑝𝑜𝑜𝑙</m:t>
                    </m:r>
                  </m:sup>
                </m:sSubSup>
              </m:oMath>
            </a14:m>
            <a:r>
              <a:t>: Total Risk Scores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sup>
                </m:sSup>
              </m:oMath>
            </a14:m>
            <a:r>
              <a:t> of applicants arriving in month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𝑡</m:t>
                </m:r>
              </m:oMath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𝐿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a14:m>
            <a:r>
              <a:t>: Total outstanding (un-received) loan repayments after time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𝑡</m:t>
                </m:r>
              </m:oMath>
            </a14:m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RL Part — Action (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a14:m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: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→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nor/>
                        </m:rPr>
                        <a:rPr/>
                        <m:t>Loan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Condition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</m:oMath>
              </m:oMathPara>
            </a14:m>
            <a:endParaRPr/>
          </a:p>
          <a:p>
            <a:pPr lvl="0"/>
            <a:r>
              <a:rPr b="1"/>
              <a:t>Input:</a:t>
            </a:r>
            <a:r>
              <a:t> Borrower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𝑖</m:t>
                </m:r>
              </m:oMath>
            </a14:m>
            <a:r>
              <a:t>’s Total Risk Score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endParaRPr/>
          </a:p>
          <a:p>
            <a:pPr lvl="0"/>
            <a:r>
              <a:rPr b="1"/>
              <a:t>Output:</a:t>
            </a:r>
            <a:r>
              <a:t> Recommended loan condition (e.g., interest rate, credit limit)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RL Part —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+1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+∑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nor/>
                        </m:rPr>
                        <a:rPr/>
                        <m:t>Inflow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−∑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nor/>
                        </m:rPr>
                        <a:rPr/>
                        <m:t>Outflow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</m:sub>
                  </m:sSub>
                </m:oMath>
              </m:oMathPara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m:rPr>
                        <m:nor/>
                      </m:rPr>
                      <a:rPr/>
                      <m:t>Inflow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a14:m>
            <a:r>
              <a:t>: Total repayments received during month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𝑡</m:t>
                </m:r>
              </m:oMath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m:rPr>
                        <m:nor/>
                      </m:rPr>
                      <a:rPr/>
                      <m:t>Outflow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a14:m>
            <a:r>
              <a:t>: Total disbursed as new loans during month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𝑡</m:t>
                </m:r>
              </m:oMath>
            </a14:m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RL Part — Reward (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a14:m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−</m:t>
                  </m:r>
                  <m:r>
                    <a:rPr>
                      <a:latin typeface="Cambria Math" panose="02040503050406030204" pitchFamily="18" charset="0"/>
                    </a:rPr>
                    <m:t>𝜆</m:t>
                  </m:r>
                  <m:r>
                    <a:rPr>
                      <a:latin typeface="Cambria Math" panose="02040503050406030204" pitchFamily="18" charset="0"/>
                    </a:rPr>
                    <m:t>⋅</m:t>
                  </m:r>
                  <m:r>
                    <m:rPr>
                      <m:nor/>
                    </m:rPr>
                    <a:rPr/>
                    <m:t>Penalty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e>
                  </m:d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m:rPr>
                      <m:nor/>
                    </m:rPr>
                    <a:rPr/>
                    <m:t>Penalty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e>
                  </m:d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exp</m:t>
                  </m:r>
                  <m:d>
                    <m:dPr>
                      <m:begChr m:val="["/>
                      <m:endChr m:val="]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e>
                      </m:d>
                    </m:e>
                  </m:d>
                  <m:r>
                    <a:rPr>
                      <a:latin typeface="Cambria Math" panose="02040503050406030204" pitchFamily="18" charset="0"/>
                    </a:rPr>
                    <m:t>, </m:t>
                  </m:r>
                  <m:r>
                    <a:rPr>
                      <a:latin typeface="Cambria Math" panose="02040503050406030204" pitchFamily="18" charset="0"/>
                    </a:rPr>
                    <m:t>𝛼</m:t>
                  </m:r>
                  <m:r>
                    <a:rPr>
                      <a:latin typeface="Cambria Math" panose="02040503050406030204" pitchFamily="18" charset="0"/>
                    </a:rPr>
                    <m:t>&gt;0</m:t>
                  </m:r>
                </m:oMath>
              </m:oMathPara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e>
                  <m:sub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min</m:t>
                    </m:r>
                  </m:sub>
                </m:sSub>
              </m:oMath>
            </a14:m>
            <a:r>
              <a:t>: Minimum budget the bank must maintain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𝜆</m:t>
                </m:r>
              </m:oMath>
            </a14:m>
            <a:r>
              <a:t>: Stability–profit tradeoff (hyperparameter)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𝛼</m:t>
                </m:r>
              </m:oMath>
            </a14:m>
            <a:r>
              <a:t>: Sharpness of penalty curve (hyperparameter)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RL Part — Policy (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𝜋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</m:oMath>
            </a14:m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𝜋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∗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arg</m:t>
                  </m:r>
                  <m:limLow>
                    <m:limLow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limLow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max</m:t>
                      </m:r>
                    </m:e>
                    <m:lim>
                      <m:r>
                        <a:rPr>
                          <a:latin typeface="Cambria Math" panose="02040503050406030204" pitchFamily="18" charset="0"/>
                        </a:rPr>
                        <m:t>𝜋</m:t>
                      </m:r>
                    </m:lim>
                  </m:limLow>
                  <m:r>
                    <a:rPr>
                      <a:latin typeface="Cambria Math" panose="02040503050406030204" pitchFamily="18" charset="0"/>
                    </a:rPr>
                    <m:t> </m:t>
                  </m:r>
                  <m:r>
                    <a:rPr>
                      <a:latin typeface="Cambria Math" panose="02040503050406030204" pitchFamily="18" charset="0"/>
                    </a:rPr>
                    <m:t>𝔼</m:t>
                  </m:r>
                  <m:d>
                    <m:dPr>
                      <m:begChr m:val="["/>
                      <m:endChr m:val="]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e>
                  </m:d>
                </m:oMath>
              </m:oMathPara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𝛾</m:t>
                </m:r>
                <m:r>
                  <a:rPr>
                    <a:latin typeface="Cambria Math" panose="02040503050406030204" pitchFamily="18" charset="0"/>
                  </a:rPr>
                  <m:t>∈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0,1</m:t>
                    </m:r>
                  </m:e>
                </m:d>
              </m:oMath>
            </a14:m>
            <a:r>
              <a:t>: discount factor</a:t>
            </a:r>
          </a:p>
          <a:p>
            <a:pPr lvl="0"/>
            <a:r>
              <a:t>Selects actions maximizing expected long-term cumulative return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Future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Simulation-based data augmentation (if real data proves insufficient for training)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Chang et al. (2022). Machine learning and ANN to construct P2P lending credit-scoring model. </a:t>
            </a:r>
            <a:r>
              <a:rPr i="1"/>
              <a:t>Quantitative Finance and Economics</a:t>
            </a:r>
            <a:r>
              <a:t>, 6(2), 303–325. doi: 10.3934/QFE.2022013</a:t>
            </a:r>
          </a:p>
          <a:p>
            <a:pPr marL="342900" lvl="0" indent="-342900">
              <a:buAutoNum type="arabicPeriod"/>
            </a:pPr>
            <a:r>
              <a:t>Brini, Tedeschi &amp; Tantari (2023). Reinforcement learning policy recommendation for interbank network stability. </a:t>
            </a:r>
            <a:r>
              <a:rPr i="1"/>
              <a:t>Journal of Economic Dynamics and Control</a:t>
            </a:r>
            <a:r>
              <a:t>, 152, 104678.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Microsoft Office PowerPoint</Application>
  <PresentationFormat>화면 슬라이드 쇼(16:9)</PresentationFormat>
  <Paragraphs>48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Optimizing Dynamic Lending Policies for Bank Asset Liquidity Stability and Profit</vt:lpstr>
      <vt:lpstr>Background</vt:lpstr>
      <vt:lpstr>Purpose</vt:lpstr>
      <vt:lpstr>Research Questions</vt:lpstr>
      <vt:lpstr>Key Literature Reviews</vt:lpstr>
      <vt:lpstr>Dataset: Lending Club</vt:lpstr>
      <vt:lpstr>ML Part</vt:lpstr>
      <vt:lpstr>RL Part — State (S_t)</vt:lpstr>
      <vt:lpstr>RL Part — Action (A_t)</vt:lpstr>
      <vt:lpstr>RL Part — Transition</vt:lpstr>
      <vt:lpstr>RL Part — Reward (R_t)</vt:lpstr>
      <vt:lpstr>RL Part — Policy (π^∗)</vt:lpstr>
      <vt:lpstr>Future Works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Dynamic Lending Policies for Bank Asset Liquidity Stability and Profit</dc:title>
  <dc:creator>서정호 (2020-11101); 김재환 (2021-11038); 조후연 (2022-11195)</dc:creator>
  <cp:keywords/>
  <cp:lastModifiedBy>서정호</cp:lastModifiedBy>
  <cp:revision>1</cp:revision>
  <dcterms:created xsi:type="dcterms:W3CDTF">2026-04-28T13:54:33Z</dcterms:created>
  <dcterms:modified xsi:type="dcterms:W3CDTF">2026-04-28T13:55:54Z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2026-04-28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DGIST CSE402 Reinforcement Learning — Team 04</vt:lpwstr>
  </property>
  <property fmtid="{D5CDD505-2E9C-101B-9397-08002B2CF9AE}" pid="11" name="toc-title">
    <vt:lpwstr>Table of contents</vt:lpwstr>
  </property>
</Properties>
</file>