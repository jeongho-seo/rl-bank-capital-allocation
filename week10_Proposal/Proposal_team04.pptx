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38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9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200400" cy="32004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roposal/assets/icon_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DGIST  •  CSE402  •  Reinforcement Learning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926080" y="1508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Dynamic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926080" y="2011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Policies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92608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liquidity stability  +  long-term profit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926080" y="333756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926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2608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서정호  (2020-11101)   김재환  (2021-11038)   조후연  (2022-11195)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roposal/assets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5087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credit scoring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bank's liquidity state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554480" y="342900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affect future bank’s asset flow.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sequential/dynamic decision problem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proposal/assets/icon_co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0876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Bank's Dual Goal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846320" y="30175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484632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20840" y="30175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672084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6344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 →  RL policy  →  decision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19656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19656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pic>
        <p:nvPicPr>
          <p:cNvPr id="7" name="Image 0" descr="/home/claude/proposal/assets/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0116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96896" y="1508760"/>
            <a:ext cx="1819656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596896" y="1508760"/>
            <a:ext cx="1819656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734056" y="16733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pic>
        <p:nvPicPr>
          <p:cNvPr id="12" name="Image 1" descr="/home/claude/proposal/assets/icon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804" y="2011680"/>
            <a:ext cx="1005840" cy="1005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88336" y="32004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 Score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36592" y="1508760"/>
            <a:ext cx="1819656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736592" y="1508760"/>
            <a:ext cx="1819656" cy="91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873752" y="16733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900" dirty="0"/>
          </a:p>
        </p:txBody>
      </p:sp>
      <p:pic>
        <p:nvPicPr>
          <p:cNvPr id="17" name="Image 2" descr="/home/claude/proposal/assets/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011680"/>
            <a:ext cx="1005840" cy="10058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28032" y="32004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876288" y="1508760"/>
            <a:ext cx="1819656" cy="24688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876288" y="1508760"/>
            <a:ext cx="181965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013448" y="16733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22" name="Image 3" descr="/home/claude/proposal/assets/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196" y="2011680"/>
            <a:ext cx="1005840" cy="10058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67728" y="32004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Decision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2272284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4119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551676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Bank.   Decisions update each month given current cash on hand.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roposal/assets/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070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long-term profit  +  preserve liquidity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40233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02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pic>
        <p:nvPicPr>
          <p:cNvPr id="9" name="Image 1" descr="/home/claude/proposal/assets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58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103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Transition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73736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Bank’s view: Monthly inflow / outflow process.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2011680"/>
            <a:ext cx="40233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663440" y="2011680"/>
            <a:ext cx="502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4663440" y="20116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pic>
        <p:nvPicPr>
          <p:cNvPr id="15" name="Image 2" descr="/home/claude/proposal/assets/icon_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2585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0" y="2103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— Total Risk Scoring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4360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Borrower’s Features  →  Total Risk Score.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40233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502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457200" y="31089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pic>
        <p:nvPicPr>
          <p:cNvPr id="21" name="Image 3" descr="/home/claude/proposal/assets/icon_check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3558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32004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 — Recommendation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737360" y="3520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 Score  →  Loan Conditions.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3108960"/>
            <a:ext cx="40233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4663440" y="3108960"/>
            <a:ext cx="502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/>
          <p:nvPr/>
        </p:nvSpPr>
        <p:spPr>
          <a:xfrm>
            <a:off x="4663440" y="31089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pic>
        <p:nvPicPr>
          <p:cNvPr id="27" name="Image 4" descr="/home/claude/proposal/assets/icon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35584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0" y="32004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— Optimal Policy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43600" y="35204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stability and profit.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 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 Score  →  loan-condition recommendation shifts as budget changes?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 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RL  &gt;  per-customer ML at preventing depletion?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22EE-0DEA-9760-FF69-EBE263E2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48FC-F96D-D5A5-B57A-28B445B7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Key Literature Reviews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42797-E409-B9CC-902C-4350FE9D8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Chang et al. (2022) — </a:t>
            </a:r>
            <a:r>
              <a:rPr i="1" dirty="0"/>
              <a:t>P2P Lending Credit-Scoring Model using Lending Club data</a:t>
            </a:r>
            <a:endParaRPr lang="en-US" i="1" dirty="0"/>
          </a:p>
          <a:p>
            <a:pPr marL="0" lvl="0" indent="0">
              <a:buNone/>
            </a:pPr>
            <a:endParaRPr lang="en-US" i="1" dirty="0"/>
          </a:p>
          <a:p>
            <a:pPr marL="228600" lvl="0" indent="-228600">
              <a:buAutoNum type="arabicPeriod"/>
            </a:pPr>
            <a:r>
              <a:rPr lang="en-US" i="1" dirty="0"/>
              <a:t>[ML] Which Features are better?</a:t>
            </a:r>
          </a:p>
          <a:p>
            <a:pPr marL="228600" lvl="0" indent="-228600">
              <a:buAutoNum type="arabicPeriod"/>
            </a:pPr>
            <a:r>
              <a:rPr lang="en-US" i="1" dirty="0"/>
              <a:t>[ML] Which models are better?</a:t>
            </a:r>
            <a:endParaRPr i="1" dirty="0"/>
          </a:p>
        </p:txBody>
      </p:sp>
      <p:pic>
        <p:nvPicPr>
          <p:cNvPr id="3" name="Picture 1" descr="features_reference.png">
            <a:extLst>
              <a:ext uri="{FF2B5EF4-FFF2-40B4-BE49-F238E27FC236}">
                <a16:creationId xmlns:a16="http://schemas.microsoft.com/office/drawing/2014/main" id="{42D09507-C7CF-97FB-7F0D-9E7B2579F0A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815"/>
            <a:ext cx="51054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082302-65FD-6BFA-DFE8-EDD239E13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80" y="3089279"/>
            <a:ext cx="6348010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Lending Club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P2P loan records, aggregated monthly</a:t>
            </a:r>
            <a:endParaRPr lang="en-US" sz="1300" dirty="0"/>
          </a:p>
        </p:txBody>
      </p:sp>
      <p:pic>
        <p:nvPicPr>
          <p:cNvPr id="4" name="Image 0" descr="/home/claude/proposal/assets/df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21792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1365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df_acc.head()    —features per loan record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3886200"/>
            <a:ext cx="269748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1792" y="40690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21792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issue_d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4270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buckets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23260" y="3886200"/>
            <a:ext cx="269748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387852" y="40690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387852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0906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features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09060" y="4270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dist. + balance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89320" y="3886200"/>
            <a:ext cx="269748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53912" y="40690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153912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7512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/ Outflow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4270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repayments – disbursed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Decision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⇄ Environment, every month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0" cy="1417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proposal/assets/icon_ban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83080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π( A | S 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280160"/>
            <a:ext cx="310896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proposal/assets/icon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463040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903720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90372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borrowers, defaults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11880" y="1554480"/>
            <a:ext cx="1920240" cy="0"/>
          </a:xfrm>
          <a:prstGeom prst="line">
            <a:avLst/>
          </a:prstGeom>
          <a:noFill/>
          <a:ln w="31750">
            <a:solidFill>
              <a:srgbClr val="0A1F4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931920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pic>
        <p:nvPicPr>
          <p:cNvPr id="16" name="Image 2" descr="/home/claude/proposal/eq/action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804" y="1673352"/>
            <a:ext cx="1932391" cy="2194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1880" y="2423160"/>
            <a:ext cx="19202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374904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+  REWARD</a:t>
            </a:r>
            <a:endParaRPr lang="en-US" sz="1000" dirty="0"/>
          </a:p>
        </p:txBody>
      </p:sp>
      <p:pic>
        <p:nvPicPr>
          <p:cNvPr id="19" name="Image 3" descr="/home/claude/proposal/eq/feedb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387" y="2514600"/>
            <a:ext cx="1005226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926080"/>
            <a:ext cx="265176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457200" y="292608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640080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pic>
        <p:nvPicPr>
          <p:cNvPr id="23" name="Image 4" descr="/home/claude/proposal/eq/state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37560"/>
            <a:ext cx="1405705" cy="274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13232" y="3886200"/>
            <a:ext cx="54864" cy="54864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/home/claude/proposal/eq/bt_lab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120" y="3840480"/>
            <a:ext cx="156859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0699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budget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13232" y="4142232"/>
            <a:ext cx="54864" cy="54864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/home/claude/proposal/eq/xtpool_lab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120" y="4096512"/>
            <a:ext cx="251781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66181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borrowers with Total Risk Score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713232" y="4398264"/>
            <a:ext cx="54864" cy="54864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7" descr="/home/claude/proposal/eq/lt_lab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120" y="4352544"/>
            <a:ext cx="150232" cy="1645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22"/>
              <p:cNvSpPr/>
              <p:nvPr/>
            </p:nvSpPr>
            <p:spPr>
              <a:xfrm>
                <a:off x="1000698" y="4315968"/>
                <a:ext cx="2279373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00" dirty="0">
                    <a:solidFill>
                      <a:srgbClr val="1A233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altLang="ko-KR" sz="1000" dirty="0"/>
                  <a:t>Total unreceived repayments after time </a:t>
                </a:r>
                <a14:m>
                  <m:oMath xmlns:m="http://schemas.openxmlformats.org/officeDocument/2006/math">
                    <m:r>
                      <a:rPr lang="ko-KR" altLang="en-US" sz="1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32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698" y="4315968"/>
                <a:ext cx="2279373" cy="256032"/>
              </a:xfrm>
              <a:prstGeom prst="rect">
                <a:avLst/>
              </a:prstGeom>
              <a:blipFill>
                <a:blip r:embed="rId11"/>
                <a:stretch>
                  <a:fillRect l="-3476" b="-11905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23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/>
          <p:cNvSpPr/>
          <p:nvPr/>
        </p:nvSpPr>
        <p:spPr>
          <a:xfrm>
            <a:off x="3246120" y="2926080"/>
            <a:ext cx="73152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/>
          <p:nvPr/>
        </p:nvSpPr>
        <p:spPr>
          <a:xfrm>
            <a:off x="342900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  <p:pic>
        <p:nvPicPr>
          <p:cNvPr id="36" name="Image 8" descr="/home/claude/proposal/eq/reward_ful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0" y="3310128"/>
            <a:ext cx="2156559" cy="182880"/>
          </a:xfrm>
          <a:prstGeom prst="rect">
            <a:avLst/>
          </a:prstGeom>
        </p:spPr>
      </p:pic>
      <p:pic>
        <p:nvPicPr>
          <p:cNvPr id="37" name="Image 9" descr="/home/claude/proposal/eq/reward_p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0" y="3602736"/>
            <a:ext cx="2316876" cy="182880"/>
          </a:xfrm>
          <a:prstGeom prst="rect">
            <a:avLst/>
          </a:prstGeom>
        </p:spPr>
      </p:pic>
      <p:pic>
        <p:nvPicPr>
          <p:cNvPr id="38" name="Image 10" descr="/home/claude/proposal/eq/cmin_labe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3959352"/>
            <a:ext cx="312983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787703" y="3931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 budget for bank stability</a:t>
            </a:r>
            <a:endParaRPr lang="en-US" sz="1000" dirty="0"/>
          </a:p>
        </p:txBody>
      </p:sp>
      <p:pic>
        <p:nvPicPr>
          <p:cNvPr id="40" name="Image 11" descr="/home/claude/proposal/eq/lambda_labe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0" y="4197096"/>
            <a:ext cx="117829" cy="18288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3592549" y="4169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Budget Penalty term</a:t>
            </a:r>
            <a:endParaRPr lang="en-US" sz="1000" dirty="0"/>
          </a:p>
        </p:txBody>
      </p:sp>
      <p:pic>
        <p:nvPicPr>
          <p:cNvPr id="42" name="Image 12" descr="/home/claude/proposal/eq/alpha_labe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9000" y="4434840"/>
            <a:ext cx="133785" cy="18288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3608505" y="4407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sharpness</a:t>
            </a:r>
            <a:endParaRPr lang="en-US" sz="1000" dirty="0"/>
          </a:p>
        </p:txBody>
      </p:sp>
      <p:sp>
        <p:nvSpPr>
          <p:cNvPr id="44" name="Shape 29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0"/>
          <p:cNvSpPr/>
          <p:nvPr/>
        </p:nvSpPr>
        <p:spPr>
          <a:xfrm>
            <a:off x="6035040" y="2926080"/>
            <a:ext cx="73152" cy="16916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1"/>
          <p:cNvSpPr/>
          <p:nvPr/>
        </p:nvSpPr>
        <p:spPr>
          <a:xfrm>
            <a:off x="6217920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00" dirty="0"/>
          </a:p>
        </p:txBody>
      </p:sp>
      <p:pic>
        <p:nvPicPr>
          <p:cNvPr id="47" name="Image 13" descr="/home/claude/proposal/eq/trans_mai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7920" y="3383280"/>
            <a:ext cx="2051719" cy="18288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defaults</a:t>
            </a:r>
            <a:endParaRPr lang="en-US" sz="1050" dirty="0"/>
          </a:p>
        </p:txBody>
      </p:sp>
      <p:sp>
        <p:nvSpPr>
          <p:cNvPr id="49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roposal/assets/icon_ca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508760" y="1627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Per-borrower loan scoring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features  →  total risk score  →  loan conditions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6916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home/claude/proposal/assets/icon_brain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258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PART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15000" y="1627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policy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policy for both of them: Asset Stability and Profit. 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57200" y="3429000"/>
            <a:ext cx="2011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5720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4360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ML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9436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Aggregate; train loan scoring.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532888" y="3429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2532888" y="3429000"/>
            <a:ext cx="2011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2532888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670048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670048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08576" y="3429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608576" y="3429000"/>
            <a:ext cx="2011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4608576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45736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745736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tune policy.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684264" y="3429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6684264" y="3429000"/>
            <a:ext cx="2011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684264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821424" y="3794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821424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curves; report.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286000" cy="22860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home/claude/proposal/eq/policy_ob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206" y="1417320"/>
            <a:ext cx="2629589" cy="685800"/>
          </a:xfrm>
          <a:prstGeom prst="rect">
            <a:avLst/>
          </a:prstGeom>
        </p:spPr>
      </p:pic>
      <p:pic>
        <p:nvPicPr>
          <p:cNvPr id="7" name="Image 1" descr="/home/claude/proposal/assets/icon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3127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simulation when real data is insufficient.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77240" y="374904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as a sequential decision: ML scoring + RL policy, balancing liquidity and profit.</a:t>
            </a:r>
            <a:endParaRPr lang="en-US" sz="1000" dirty="0"/>
          </a:p>
        </p:txBody>
      </p:sp>
      <p:pic>
        <p:nvPicPr>
          <p:cNvPr id="12" name="Image 2" descr="/home/claude/proposal/assets/icon_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572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B71564-D0A6-588D-5545-1231B1E1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 algn="ctr">
              <a:buNone/>
            </a:pPr>
            <a:r>
              <a:rPr sz="3300" dirty="0"/>
              <a:t>References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F4A6BF-DE7A-03F6-B665-C498269F2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marL="342900" lvl="0" indent="-342900">
              <a:buAutoNum type="arabicPeriod"/>
            </a:pPr>
            <a:r>
              <a:rPr dirty="0"/>
              <a:t>Chang et al. (2022). Machine learning and ANN to construct P2P lending credit-scoring model. </a:t>
            </a:r>
            <a:r>
              <a:rPr i="1" dirty="0"/>
              <a:t>Quantitative Finance and Economics</a:t>
            </a:r>
            <a:r>
              <a:rPr dirty="0"/>
              <a:t>, 6(2), 303–325. </a:t>
            </a:r>
            <a:r>
              <a:rPr dirty="0" err="1"/>
              <a:t>doi</a:t>
            </a:r>
            <a:r>
              <a:rPr dirty="0"/>
              <a:t>: 10.3934/QFE.2022013</a:t>
            </a:r>
          </a:p>
          <a:p>
            <a:pPr marL="342900" lvl="0" indent="-342900">
              <a:buAutoNum type="arabicPeriod"/>
            </a:pPr>
            <a:r>
              <a:rPr dirty="0"/>
              <a:t>Brini, Tedeschi &amp; </a:t>
            </a:r>
            <a:r>
              <a:rPr dirty="0" err="1"/>
              <a:t>Tantari</a:t>
            </a:r>
            <a:r>
              <a:rPr dirty="0"/>
              <a:t> (2023). Reinforcement learning policy recommendation for interbank network stability. </a:t>
            </a:r>
            <a:r>
              <a:rPr i="1" dirty="0"/>
              <a:t>Journal of Economic Dynamics and Control</a:t>
            </a:r>
            <a:r>
              <a:rPr dirty="0"/>
              <a:t>, 152, 104678.</a:t>
            </a:r>
          </a:p>
        </p:txBody>
      </p:sp>
    </p:spTree>
    <p:extLst>
      <p:ext uri="{BB962C8B-B14F-4D97-AF65-F5344CB8AC3E}">
        <p14:creationId xmlns:p14="http://schemas.microsoft.com/office/powerpoint/2010/main" val="41440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509</Words>
  <Application>Microsoft Office PowerPoint</Application>
  <PresentationFormat>화면 슬라이드 쇼(16:9)</PresentationFormat>
  <Paragraphs>125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Key Literature Reviews</vt:lpstr>
      <vt:lpstr>PowerPoint 프레젠테이션</vt:lpstr>
      <vt:lpstr>PowerPoint 프레젠테이션</vt:lpstr>
      <vt:lpstr>PowerPoint 프레젠테이션</vt:lpstr>
      <vt:lpstr>PowerPoint 프레젠테이션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Dynamic Lending Policies</dc:title>
  <dc:subject>PptxGenJS Presentation</dc:subject>
  <dc:creator>Team 04</dc:creator>
  <cp:lastModifiedBy>서정호</cp:lastModifiedBy>
  <cp:revision>4</cp:revision>
  <dcterms:created xsi:type="dcterms:W3CDTF">2026-04-28T13:52:37Z</dcterms:created>
  <dcterms:modified xsi:type="dcterms:W3CDTF">2026-04-28T14:08:22Z</dcterms:modified>
</cp:coreProperties>
</file>